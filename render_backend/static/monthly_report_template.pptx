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461" r:id="rId2"/>
    <p:sldId id="490" r:id="rId3"/>
    <p:sldId id="544" r:id="rId4"/>
    <p:sldId id="545" r:id="rId5"/>
    <p:sldId id="565" r:id="rId6"/>
    <p:sldId id="566" r:id="rId7"/>
  </p:sldIdLst>
  <p:sldSz cx="9144000" cy="6858000" type="screen4x3"/>
  <p:notesSz cx="6858000" cy="9144000"/>
  <p:defaultTextStyle>
    <a:defPPr>
      <a:defRPr lang="es-MX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GA Contratista Minera" initials="MC" lastIdx="1" clrIdx="0">
    <p:extLst>
      <p:ext uri="{19B8F6BF-5375-455C-9EA6-DF929625EA0E}">
        <p15:presenceInfo xmlns:p15="http://schemas.microsoft.com/office/powerpoint/2012/main" userId="c6cc7efe33bc6d7a" providerId="Windows Live"/>
      </p:ext>
    </p:extLst>
  </p:cmAuthor>
  <p:cmAuthor id="2" name="Usuario" initials="U" lastIdx="1" clrIdx="1">
    <p:extLst>
      <p:ext uri="{19B8F6BF-5375-455C-9EA6-DF929625EA0E}">
        <p15:presenceInfo xmlns:p15="http://schemas.microsoft.com/office/powerpoint/2012/main" userId="Usuario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63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44" autoAdjust="0"/>
    <p:restoredTop sz="94669" autoAdjust="0"/>
  </p:normalViewPr>
  <p:slideViewPr>
    <p:cSldViewPr>
      <p:cViewPr varScale="1">
        <p:scale>
          <a:sx n="68" d="100"/>
          <a:sy n="68" d="100"/>
        </p:scale>
        <p:origin x="1464" y="9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commentAuthors" Target="comment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MX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7A13B07-473E-4453-B517-BF937E307F9F}" type="datetimeFigureOut">
              <a:rPr lang="es-MX" smtClean="0"/>
              <a:t>04/05/2026</a:t>
            </a:fld>
            <a:endParaRPr lang="es-MX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MX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MX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EEAAE84-4881-4681-BBC3-134EFD7726A3}" type="slidenum">
              <a:rPr lang="es-MX" smtClean="0"/>
              <a:t>‹Nº›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6560534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EAAE84-4881-4681-BBC3-134EFD7726A3}" type="slidenum">
              <a:rPr lang="es-MX" smtClean="0"/>
              <a:t>3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23194514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EAAE84-4881-4681-BBC3-134EFD7726A3}" type="slidenum">
              <a:rPr lang="es-MX" smtClean="0"/>
              <a:t>4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4163093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ctrTitle"/>
          </p:nvPr>
        </p:nvSpPr>
        <p:spPr>
          <a:xfrm>
            <a:off x="685800" y="2130427"/>
            <a:ext cx="7772400" cy="1470025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Subtítulo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/>
              <a:t>Haga clic para modificar el estilo de subtítulo del patrón</a:t>
            </a:r>
            <a:endParaRPr lang="es-MX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746D18-A8C8-43F3-BE77-459E2D7B1712}" type="datetimeFigureOut">
              <a:rPr lang="es-MX" smtClean="0"/>
              <a:t>04/05/2026</a:t>
            </a:fld>
            <a:endParaRPr lang="es-MX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74B51-E549-430C-AC34-5A87A1101C40}" type="slidenum">
              <a:rPr lang="es-MX" smtClean="0"/>
              <a:t>‹Nº›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1358051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/>
    </mc:Choice>
    <mc:Fallback xmlns="">
      <p:transition/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746D18-A8C8-43F3-BE77-459E2D7B1712}" type="datetimeFigureOut">
              <a:rPr lang="es-MX" smtClean="0"/>
              <a:t>04/05/2026</a:t>
            </a:fld>
            <a:endParaRPr lang="es-MX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74B51-E549-430C-AC34-5A87A1101C40}" type="slidenum">
              <a:rPr lang="es-MX" smtClean="0"/>
              <a:t>‹Nº›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22612559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/>
    </mc:Choice>
    <mc:Fallback xmlns="">
      <p:transition/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722313" y="4406902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746D18-A8C8-43F3-BE77-459E2D7B1712}" type="datetimeFigureOut">
              <a:rPr lang="es-MX" smtClean="0"/>
              <a:t>04/05/2026</a:t>
            </a:fld>
            <a:endParaRPr lang="es-MX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74B51-E549-430C-AC34-5A87A1101C40}" type="slidenum">
              <a:rPr lang="es-MX" smtClean="0"/>
              <a:t>‹Nº›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3552553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/>
    </mc:Choice>
    <mc:Fallback xmlns="">
      <p:transition/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Marcador de contenido"/>
          <p:cNvSpPr>
            <a:spLocks noGrp="1"/>
          </p:cNvSpPr>
          <p:nvPr>
            <p:ph sz="half" idx="1"/>
          </p:nvPr>
        </p:nvSpPr>
        <p:spPr>
          <a:xfrm>
            <a:off x="457200" y="1600202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4648200" y="1600202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746D18-A8C8-43F3-BE77-459E2D7B1712}" type="datetimeFigureOut">
              <a:rPr lang="es-MX" smtClean="0"/>
              <a:t>04/05/2026</a:t>
            </a:fld>
            <a:endParaRPr lang="es-MX" dirty="0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74B51-E549-430C-AC34-5A87A1101C40}" type="slidenum">
              <a:rPr lang="es-MX" smtClean="0"/>
              <a:t>‹Nº›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42247579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/>
    </mc:Choice>
    <mc:Fallback xmlns="">
      <p:transition/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5" name="4 Marcador de texto"/>
          <p:cNvSpPr>
            <a:spLocks noGrp="1"/>
          </p:cNvSpPr>
          <p:nvPr>
            <p:ph type="body" sz="quarter" idx="3"/>
          </p:nvPr>
        </p:nvSpPr>
        <p:spPr>
          <a:xfrm>
            <a:off x="4645026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6" name="5 Marcador de contenido"/>
          <p:cNvSpPr>
            <a:spLocks noGrp="1"/>
          </p:cNvSpPr>
          <p:nvPr>
            <p:ph sz="quarter" idx="4"/>
          </p:nvPr>
        </p:nvSpPr>
        <p:spPr>
          <a:xfrm>
            <a:off x="4645026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7" name="6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746D18-A8C8-43F3-BE77-459E2D7B1712}" type="datetimeFigureOut">
              <a:rPr lang="es-MX" smtClean="0"/>
              <a:t>04/05/2026</a:t>
            </a:fld>
            <a:endParaRPr lang="es-MX" dirty="0"/>
          </a:p>
        </p:txBody>
      </p:sp>
      <p:sp>
        <p:nvSpPr>
          <p:cNvPr id="8" name="7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9" name="8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74B51-E549-430C-AC34-5A87A1101C40}" type="slidenum">
              <a:rPr lang="es-MX" smtClean="0"/>
              <a:t>‹Nº›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38080051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/>
    </mc:Choice>
    <mc:Fallback xmlns="">
      <p:transition/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746D18-A8C8-43F3-BE77-459E2D7B1712}" type="datetimeFigureOut">
              <a:rPr lang="es-MX" smtClean="0"/>
              <a:t>04/05/2026</a:t>
            </a:fld>
            <a:endParaRPr lang="es-MX" dirty="0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5" name="4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74B51-E549-430C-AC34-5A87A1101C40}" type="slidenum">
              <a:rPr lang="es-MX" smtClean="0"/>
              <a:t>‹Nº›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27241343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/>
    </mc:Choice>
    <mc:Fallback xmlns="">
      <p:transition/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746D18-A8C8-43F3-BE77-459E2D7B1712}" type="datetimeFigureOut">
              <a:rPr lang="es-MX" smtClean="0"/>
              <a:t>04/05/2026</a:t>
            </a:fld>
            <a:endParaRPr lang="es-MX" dirty="0"/>
          </a:p>
        </p:txBody>
      </p:sp>
      <p:sp>
        <p:nvSpPr>
          <p:cNvPr id="3" name="2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74B51-E549-430C-AC34-5A87A1101C40}" type="slidenum">
              <a:rPr lang="es-MX" smtClean="0"/>
              <a:t>‹Nº›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27999814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/>
    </mc:Choice>
    <mc:Fallback xmlns="">
      <p:transition/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457201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3575050" y="273052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457201" y="1435102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746D18-A8C8-43F3-BE77-459E2D7B1712}" type="datetimeFigureOut">
              <a:rPr lang="es-MX" smtClean="0"/>
              <a:t>04/05/2026</a:t>
            </a:fld>
            <a:endParaRPr lang="es-MX" dirty="0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74B51-E549-430C-AC34-5A87A1101C40}" type="slidenum">
              <a:rPr lang="es-MX" smtClean="0"/>
              <a:t>‹Nº›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0644634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/>
    </mc:Choice>
    <mc:Fallback xmlns="">
      <p:transition/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Marcador de posición de imagen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MX" dirty="0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746D18-A8C8-43F3-BE77-459E2D7B1712}" type="datetimeFigureOut">
              <a:rPr lang="es-MX" smtClean="0"/>
              <a:t>04/05/2026</a:t>
            </a:fld>
            <a:endParaRPr lang="es-MX" dirty="0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74B51-E549-430C-AC34-5A87A1101C40}" type="slidenum">
              <a:rPr lang="es-MX" smtClean="0"/>
              <a:t>‹Nº›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36511131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/>
    </mc:Choice>
    <mc:Fallback xmlns="">
      <p:transition/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746D18-A8C8-43F3-BE77-459E2D7B1712}" type="datetimeFigureOut">
              <a:rPr lang="es-MX" smtClean="0"/>
              <a:t>04/05/2026</a:t>
            </a:fld>
            <a:endParaRPr lang="es-MX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74B51-E549-430C-AC34-5A87A1101C40}" type="slidenum">
              <a:rPr lang="es-MX" smtClean="0"/>
              <a:t>‹Nº›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40287289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/>
    </mc:Choice>
    <mc:Fallback xmlns="">
      <p:transition/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 vertical"/>
          <p:cNvSpPr>
            <a:spLocks noGrp="1"/>
          </p:cNvSpPr>
          <p:nvPr>
            <p:ph type="title" orient="vert"/>
          </p:nvPr>
        </p:nvSpPr>
        <p:spPr>
          <a:xfrm>
            <a:off x="6629400" y="274640"/>
            <a:ext cx="2057400" cy="5851525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>
          <a:xfrm>
            <a:off x="457200" y="274640"/>
            <a:ext cx="6019800" cy="5851525"/>
          </a:xfrm>
        </p:spPr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746D18-A8C8-43F3-BE77-459E2D7B1712}" type="datetimeFigureOut">
              <a:rPr lang="es-MX" smtClean="0"/>
              <a:t>04/05/2026</a:t>
            </a:fld>
            <a:endParaRPr lang="es-MX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74B51-E549-430C-AC34-5A87A1101C40}" type="slidenum">
              <a:rPr lang="es-MX" smtClean="0"/>
              <a:t>‹Nº›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9810259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/>
    </mc:Choice>
    <mc:Fallback xmlns="">
      <p:transition/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título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457200" y="1600202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2"/>
          </p:nvPr>
        </p:nvSpPr>
        <p:spPr>
          <a:xfrm>
            <a:off x="457200" y="6356352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4746D18-A8C8-43F3-BE77-459E2D7B1712}" type="datetimeFigureOut">
              <a:rPr lang="es-MX" smtClean="0"/>
              <a:t>04/05/2026</a:t>
            </a:fld>
            <a:endParaRPr lang="es-MX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3"/>
          </p:nvPr>
        </p:nvSpPr>
        <p:spPr>
          <a:xfrm>
            <a:off x="3124200" y="63563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MX" dirty="0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4"/>
          </p:nvPr>
        </p:nvSpPr>
        <p:spPr>
          <a:xfrm>
            <a:off x="6553200" y="6356352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3574B51-E549-430C-AC34-5A87A1101C40}" type="slidenum">
              <a:rPr lang="es-MX" smtClean="0"/>
              <a:t>‹Nº›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29389506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p14:dur="250"/>
    </mc:Choice>
    <mc:Fallback xmlns="">
      <p:transition/>
    </mc:Fallback>
  </mc:AlternateConten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MX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jpe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9BC3BEB9-6F46-586B-8035-2FB1A310EA30}"/>
              </a:ext>
            </a:extLst>
          </p:cNvPr>
          <p:cNvGrpSpPr/>
          <p:nvPr/>
        </p:nvGrpSpPr>
        <p:grpSpPr>
          <a:xfrm>
            <a:off x="0" y="1981200"/>
            <a:ext cx="9334164" cy="4802710"/>
            <a:chOff x="0" y="1981200"/>
            <a:chExt cx="9334164" cy="4802710"/>
          </a:xfrm>
        </p:grpSpPr>
        <p:sp>
          <p:nvSpPr>
            <p:cNvPr id="17" name="Right Triangle 16">
              <a:extLst>
                <a:ext uri="{FF2B5EF4-FFF2-40B4-BE49-F238E27FC236}">
                  <a16:creationId xmlns:a16="http://schemas.microsoft.com/office/drawing/2014/main" id="{0034687E-3AA4-AAD2-3A6F-1470EEEB6C29}"/>
                </a:ext>
              </a:extLst>
            </p:cNvPr>
            <p:cNvSpPr/>
            <p:nvPr/>
          </p:nvSpPr>
          <p:spPr>
            <a:xfrm rot="8245659" flipH="1">
              <a:off x="7269450" y="2046593"/>
              <a:ext cx="2064714" cy="4737317"/>
            </a:xfrm>
            <a:prstGeom prst="rtTriangle">
              <a:avLst/>
            </a:prstGeom>
            <a:solidFill>
              <a:srgbClr val="002060"/>
            </a:solidFill>
            <a:ln>
              <a:solidFill>
                <a:srgbClr val="00206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 dirty="0"/>
            </a:p>
          </p:txBody>
        </p:sp>
        <p:sp>
          <p:nvSpPr>
            <p:cNvPr id="4" name="3 Rectángulo"/>
            <p:cNvSpPr/>
            <p:nvPr/>
          </p:nvSpPr>
          <p:spPr>
            <a:xfrm>
              <a:off x="0" y="1981200"/>
              <a:ext cx="7467600" cy="175260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s-MX" sz="2000" b="1" dirty="0">
                <a:latin typeface="Arial" pitchFamily="34" charset="0"/>
                <a:cs typeface="Arial" pitchFamily="34" charset="0"/>
              </a:endParaRP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3B24D3E8-AE12-AD75-4A8F-B473AEE00D33}"/>
              </a:ext>
            </a:extLst>
          </p:cNvPr>
          <p:cNvGrpSpPr/>
          <p:nvPr/>
        </p:nvGrpSpPr>
        <p:grpSpPr>
          <a:xfrm>
            <a:off x="-304799" y="381000"/>
            <a:ext cx="9018837" cy="4632704"/>
            <a:chOff x="125163" y="-30352"/>
            <a:chExt cx="9018837" cy="4632704"/>
          </a:xfrm>
        </p:grpSpPr>
        <p:sp>
          <p:nvSpPr>
            <p:cNvPr id="16" name="Right Triangle 15">
              <a:extLst>
                <a:ext uri="{FF2B5EF4-FFF2-40B4-BE49-F238E27FC236}">
                  <a16:creationId xmlns:a16="http://schemas.microsoft.com/office/drawing/2014/main" id="{71331471-196F-BD01-D818-85F07C2C854C}"/>
                </a:ext>
              </a:extLst>
            </p:cNvPr>
            <p:cNvSpPr/>
            <p:nvPr/>
          </p:nvSpPr>
          <p:spPr>
            <a:xfrm rot="19314615" flipH="1">
              <a:off x="125163" y="-30352"/>
              <a:ext cx="1500825" cy="4632704"/>
            </a:xfrm>
            <a:prstGeom prst="rt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 dirty="0"/>
            </a:p>
          </p:txBody>
        </p:sp>
        <p:sp>
          <p:nvSpPr>
            <p:cNvPr id="14" name="3 Rectángulo">
              <a:extLst>
                <a:ext uri="{FF2B5EF4-FFF2-40B4-BE49-F238E27FC236}">
                  <a16:creationId xmlns:a16="http://schemas.microsoft.com/office/drawing/2014/main" id="{BBD49158-302A-58E1-52DA-762D2F55D823}"/>
                </a:ext>
              </a:extLst>
            </p:cNvPr>
            <p:cNvSpPr/>
            <p:nvPr/>
          </p:nvSpPr>
          <p:spPr>
            <a:xfrm>
              <a:off x="1713914" y="3200400"/>
              <a:ext cx="7430086" cy="1371600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s-MX" sz="2000" b="1" dirty="0">
                <a:latin typeface="Arial" pitchFamily="34" charset="0"/>
                <a:cs typeface="Arial" pitchFamily="34" charset="0"/>
              </a:endParaRPr>
            </a:p>
          </p:txBody>
        </p:sp>
      </p:grpSp>
      <p:pic>
        <p:nvPicPr>
          <p:cNvPr id="6" name="Imagen 5">
            <a:extLst>
              <a:ext uri="{FF2B5EF4-FFF2-40B4-BE49-F238E27FC236}">
                <a16:creationId xmlns:a16="http://schemas.microsoft.com/office/drawing/2014/main" id="{57B5C47C-F8CD-E92F-9F79-9CC1CBF168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9800" y="147056"/>
            <a:ext cx="2902770" cy="106762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8BBC5B9-AB01-0001-3038-2D5BE63D1470}"/>
              </a:ext>
            </a:extLst>
          </p:cNvPr>
          <p:cNvSpPr txBox="1"/>
          <p:nvPr/>
        </p:nvSpPr>
        <p:spPr>
          <a:xfrm>
            <a:off x="0" y="1794808"/>
            <a:ext cx="762000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60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cs typeface="Arial" panose="020B0604020202020204" pitchFamily="34" charset="0"/>
              </a:rPr>
              <a:t>Resultados Unidad </a:t>
            </a:r>
            <a:r>
              <a:rPr lang="es-MX" sz="6000" b="1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cs typeface="Arial" panose="020B0604020202020204" pitchFamily="34" charset="0"/>
              </a:rPr>
              <a:t>Peovidencia</a:t>
            </a:r>
            <a:endParaRPr lang="es-MX" sz="60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ndara" panose="020E0502030303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328A31F-9B51-7538-DF74-B3BEB3AED507}"/>
              </a:ext>
            </a:extLst>
          </p:cNvPr>
          <p:cNvSpPr txBox="1"/>
          <p:nvPr/>
        </p:nvSpPr>
        <p:spPr>
          <a:xfrm>
            <a:off x="2057400" y="3936694"/>
            <a:ext cx="74300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36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cs typeface="Arial" panose="020B0604020202020204" pitchFamily="34" charset="0"/>
              </a:rPr>
              <a:t>Reporte Mensual Abril</a:t>
            </a:r>
            <a:endParaRPr lang="es-MX" sz="36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ndara" panose="020E0502030303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301332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5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9BC3BEB9-6F46-586B-8035-2FB1A310EA30}"/>
              </a:ext>
            </a:extLst>
          </p:cNvPr>
          <p:cNvGrpSpPr/>
          <p:nvPr/>
        </p:nvGrpSpPr>
        <p:grpSpPr>
          <a:xfrm>
            <a:off x="8641" y="2035651"/>
            <a:ext cx="9334164" cy="4802710"/>
            <a:chOff x="0" y="1981200"/>
            <a:chExt cx="9334164" cy="4802710"/>
          </a:xfrm>
        </p:grpSpPr>
        <p:sp>
          <p:nvSpPr>
            <p:cNvPr id="17" name="Right Triangle 16">
              <a:extLst>
                <a:ext uri="{FF2B5EF4-FFF2-40B4-BE49-F238E27FC236}">
                  <a16:creationId xmlns:a16="http://schemas.microsoft.com/office/drawing/2014/main" id="{0034687E-3AA4-AAD2-3A6F-1470EEEB6C29}"/>
                </a:ext>
              </a:extLst>
            </p:cNvPr>
            <p:cNvSpPr/>
            <p:nvPr/>
          </p:nvSpPr>
          <p:spPr>
            <a:xfrm rot="8245659" flipH="1">
              <a:off x="7269450" y="2046593"/>
              <a:ext cx="2064714" cy="4737317"/>
            </a:xfrm>
            <a:prstGeom prst="rtTriangle">
              <a:avLst/>
            </a:prstGeom>
            <a:solidFill>
              <a:srgbClr val="002060"/>
            </a:solidFill>
            <a:ln>
              <a:solidFill>
                <a:srgbClr val="00206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 dirty="0"/>
            </a:p>
          </p:txBody>
        </p:sp>
        <p:sp>
          <p:nvSpPr>
            <p:cNvPr id="4" name="3 Rectángulo"/>
            <p:cNvSpPr/>
            <p:nvPr/>
          </p:nvSpPr>
          <p:spPr>
            <a:xfrm>
              <a:off x="0" y="1981200"/>
              <a:ext cx="7467600" cy="175260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s-MX" sz="2000" b="1" dirty="0">
                <a:latin typeface="Arial" pitchFamily="34" charset="0"/>
                <a:cs typeface="Arial" pitchFamily="34" charset="0"/>
              </a:endParaRP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3B24D3E8-AE12-AD75-4A8F-B473AEE00D33}"/>
              </a:ext>
            </a:extLst>
          </p:cNvPr>
          <p:cNvGrpSpPr/>
          <p:nvPr/>
        </p:nvGrpSpPr>
        <p:grpSpPr>
          <a:xfrm>
            <a:off x="125163" y="-30352"/>
            <a:ext cx="9018837" cy="4632704"/>
            <a:chOff x="125163" y="-30352"/>
            <a:chExt cx="9018837" cy="4632704"/>
          </a:xfrm>
        </p:grpSpPr>
        <p:sp>
          <p:nvSpPr>
            <p:cNvPr id="16" name="Right Triangle 15">
              <a:extLst>
                <a:ext uri="{FF2B5EF4-FFF2-40B4-BE49-F238E27FC236}">
                  <a16:creationId xmlns:a16="http://schemas.microsoft.com/office/drawing/2014/main" id="{71331471-196F-BD01-D818-85F07C2C854C}"/>
                </a:ext>
              </a:extLst>
            </p:cNvPr>
            <p:cNvSpPr/>
            <p:nvPr/>
          </p:nvSpPr>
          <p:spPr>
            <a:xfrm rot="19314615" flipH="1">
              <a:off x="125163" y="-30352"/>
              <a:ext cx="1500825" cy="4632704"/>
            </a:xfrm>
            <a:prstGeom prst="rt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 dirty="0"/>
            </a:p>
          </p:txBody>
        </p:sp>
        <p:sp>
          <p:nvSpPr>
            <p:cNvPr id="14" name="3 Rectángulo">
              <a:extLst>
                <a:ext uri="{FF2B5EF4-FFF2-40B4-BE49-F238E27FC236}">
                  <a16:creationId xmlns:a16="http://schemas.microsoft.com/office/drawing/2014/main" id="{BBD49158-302A-58E1-52DA-762D2F55D823}"/>
                </a:ext>
              </a:extLst>
            </p:cNvPr>
            <p:cNvSpPr/>
            <p:nvPr/>
          </p:nvSpPr>
          <p:spPr>
            <a:xfrm>
              <a:off x="1713914" y="3200400"/>
              <a:ext cx="7430086" cy="1371600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s-MX" sz="2000" b="1" dirty="0">
                <a:latin typeface="Arial" pitchFamily="34" charset="0"/>
                <a:cs typeface="Arial" pitchFamily="34" charset="0"/>
              </a:endParaRPr>
            </a:p>
          </p:txBody>
        </p:sp>
      </p:grpSp>
      <p:pic>
        <p:nvPicPr>
          <p:cNvPr id="6" name="Imagen 5">
            <a:extLst>
              <a:ext uri="{FF2B5EF4-FFF2-40B4-BE49-F238E27FC236}">
                <a16:creationId xmlns:a16="http://schemas.microsoft.com/office/drawing/2014/main" id="{654613DF-9371-857B-8EA8-FF5D8B50E6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9800" y="147056"/>
            <a:ext cx="2902770" cy="106762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8BBC5B9-AB01-0001-3038-2D5BE63D1470}"/>
              </a:ext>
            </a:extLst>
          </p:cNvPr>
          <p:cNvSpPr txBox="1"/>
          <p:nvPr/>
        </p:nvSpPr>
        <p:spPr>
          <a:xfrm>
            <a:off x="1611415" y="2692570"/>
            <a:ext cx="66294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60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cs typeface="Arial" panose="020B0604020202020204" pitchFamily="34" charset="0"/>
              </a:rPr>
              <a:t>MANTENIMIENTO</a:t>
            </a:r>
          </a:p>
        </p:txBody>
      </p:sp>
    </p:spTree>
    <p:extLst>
      <p:ext uri="{BB962C8B-B14F-4D97-AF65-F5344CB8AC3E}">
        <p14:creationId xmlns:p14="http://schemas.microsoft.com/office/powerpoint/2010/main" val="25770051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3 Rectángulo"/>
          <p:cNvSpPr/>
          <p:nvPr/>
        </p:nvSpPr>
        <p:spPr>
          <a:xfrm>
            <a:off x="524691" y="0"/>
            <a:ext cx="8473440" cy="6096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2400" b="1" dirty="0" err="1">
                <a:latin typeface="Candara" panose="020E0502030303020204" pitchFamily="34" charset="0"/>
                <a:cs typeface="Arial" pitchFamily="34" charset="0"/>
              </a:rPr>
              <a:t>Equipos</a:t>
            </a:r>
            <a:r>
              <a:rPr lang="en-US" sz="2400" b="1" dirty="0">
                <a:latin typeface="Candara" panose="020E0502030303020204" pitchFamily="34" charset="0"/>
                <a:cs typeface="Arial" pitchFamily="34" charset="0"/>
              </a:rPr>
              <a:t> </a:t>
            </a:r>
            <a:r>
              <a:rPr lang="en-US" sz="2400" b="1" dirty="0" err="1">
                <a:latin typeface="Candara" panose="020E0502030303020204" pitchFamily="34" charset="0"/>
                <a:cs typeface="Arial" pitchFamily="34" charset="0"/>
              </a:rPr>
              <a:t>barrenación</a:t>
            </a:r>
            <a:endParaRPr lang="en-US" sz="2400" b="1" dirty="0">
              <a:latin typeface="Candara" panose="020E0502030303020204" pitchFamily="34" charset="0"/>
              <a:cs typeface="Arial" pitchFamily="34" charset="0"/>
            </a:endParaRPr>
          </a:p>
        </p:txBody>
      </p:sp>
      <p:sp>
        <p:nvSpPr>
          <p:cNvPr id="6" name="5 Rectángulo"/>
          <p:cNvSpPr/>
          <p:nvPr/>
        </p:nvSpPr>
        <p:spPr>
          <a:xfrm>
            <a:off x="22860" y="5443"/>
            <a:ext cx="533400" cy="6858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2000" b="1" dirty="0" err="1">
                <a:latin typeface="Candara" panose="020E0502030303020204" pitchFamily="34" charset="0"/>
                <a:cs typeface="Arial" pitchFamily="34" charset="0"/>
              </a:rPr>
              <a:t>MGA</a:t>
            </a:r>
            <a:r>
              <a:rPr lang="en-US" sz="2000" b="1" dirty="0">
                <a:latin typeface="Candara" panose="020E0502030303020204" pitchFamily="34" charset="0"/>
                <a:cs typeface="Arial" pitchFamily="34" charset="0"/>
              </a:rPr>
              <a:t> CONTRATISTA MINERA, S.A. DE C.V.</a:t>
            </a:r>
            <a:endParaRPr lang="es-MX" sz="2000" b="1" dirty="0">
              <a:latin typeface="Candara" panose="020E0502030303020204" pitchFamily="34" charset="0"/>
              <a:cs typeface="Arial" pitchFamily="34" charset="0"/>
            </a:endParaRPr>
          </a:p>
        </p:txBody>
      </p:sp>
      <p:sp>
        <p:nvSpPr>
          <p:cNvPr id="5" name="4 Rectángulo"/>
          <p:cNvSpPr/>
          <p:nvPr/>
        </p:nvSpPr>
        <p:spPr>
          <a:xfrm rot="16200000">
            <a:off x="-2453640" y="3313610"/>
            <a:ext cx="5715000" cy="45719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3" name="TextBox 4">
            <a:extLst>
              <a:ext uri="{FF2B5EF4-FFF2-40B4-BE49-F238E27FC236}">
                <a16:creationId xmlns:a16="http://schemas.microsoft.com/office/drawing/2014/main" id="{F94769E4-A130-00D6-C21D-1999A79DEA3D}"/>
              </a:ext>
            </a:extLst>
          </p:cNvPr>
          <p:cNvSpPr txBox="1"/>
          <p:nvPr/>
        </p:nvSpPr>
        <p:spPr>
          <a:xfrm>
            <a:off x="0" y="-90418"/>
            <a:ext cx="6278880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32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cs typeface="Arial" panose="020B0604020202020204" pitchFamily="34" charset="0"/>
              </a:rPr>
              <a:t>Mes de Abril</a:t>
            </a:r>
            <a:endParaRPr lang="es-MX" sz="32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ndara" panose="020E0502030303020204" pitchFamily="34" charset="0"/>
              <a:cs typeface="Arial" panose="020B0604020202020204" pitchFamily="34" charset="0"/>
            </a:endParaRPr>
          </a:p>
          <a:p>
            <a:endParaRPr lang="es-MX" sz="36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ndara" panose="020E0502030303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799C80B2-54E3-0943-09AE-D54458DC871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9130" y="4153769"/>
            <a:ext cx="8345138" cy="2323231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CA3AEF7B-AFFE-D689-93C9-0160164F735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9130" y="1026081"/>
            <a:ext cx="8339001" cy="2594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54184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3 Rectángulo"/>
          <p:cNvSpPr/>
          <p:nvPr/>
        </p:nvSpPr>
        <p:spPr>
          <a:xfrm>
            <a:off x="304800" y="0"/>
            <a:ext cx="8839200" cy="6096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2400" b="1" dirty="0" err="1">
                <a:latin typeface="Candara" panose="020E0502030303020204" pitchFamily="34" charset="0"/>
                <a:cs typeface="Arial" pitchFamily="34" charset="0"/>
              </a:rPr>
              <a:t>Equipos</a:t>
            </a:r>
            <a:r>
              <a:rPr lang="en-US" sz="2400" b="1" dirty="0">
                <a:latin typeface="Candara" panose="020E0502030303020204" pitchFamily="34" charset="0"/>
                <a:cs typeface="Arial" pitchFamily="34" charset="0"/>
              </a:rPr>
              <a:t> de rezagado</a:t>
            </a:r>
          </a:p>
        </p:txBody>
      </p:sp>
      <p:sp>
        <p:nvSpPr>
          <p:cNvPr id="6" name="5 Rectángulo"/>
          <p:cNvSpPr/>
          <p:nvPr/>
        </p:nvSpPr>
        <p:spPr>
          <a:xfrm>
            <a:off x="0" y="0"/>
            <a:ext cx="533400" cy="6858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2000" b="1" dirty="0" err="1">
                <a:latin typeface="Candara" panose="020E0502030303020204" pitchFamily="34" charset="0"/>
                <a:cs typeface="Arial" pitchFamily="34" charset="0"/>
              </a:rPr>
              <a:t>MGA</a:t>
            </a:r>
            <a:r>
              <a:rPr lang="en-US" sz="2000" b="1" dirty="0">
                <a:latin typeface="Candara" panose="020E0502030303020204" pitchFamily="34" charset="0"/>
                <a:cs typeface="Arial" pitchFamily="34" charset="0"/>
              </a:rPr>
              <a:t> CONTRATISTA MINERA, S.A. DE C.V.</a:t>
            </a:r>
            <a:endParaRPr lang="es-MX" sz="2000" b="1" dirty="0">
              <a:latin typeface="Candara" panose="020E0502030303020204" pitchFamily="34" charset="0"/>
              <a:cs typeface="Arial" pitchFamily="34" charset="0"/>
            </a:endParaRPr>
          </a:p>
        </p:txBody>
      </p:sp>
      <p:sp>
        <p:nvSpPr>
          <p:cNvPr id="5" name="4 Rectángulo"/>
          <p:cNvSpPr/>
          <p:nvPr/>
        </p:nvSpPr>
        <p:spPr>
          <a:xfrm rot="16200000">
            <a:off x="-2453640" y="3313610"/>
            <a:ext cx="5715000" cy="45719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3" name="TextBox 4">
            <a:extLst>
              <a:ext uri="{FF2B5EF4-FFF2-40B4-BE49-F238E27FC236}">
                <a16:creationId xmlns:a16="http://schemas.microsoft.com/office/drawing/2014/main" id="{29020D9E-D77E-8E68-B585-2AC831CA329D}"/>
              </a:ext>
            </a:extLst>
          </p:cNvPr>
          <p:cNvSpPr txBox="1"/>
          <p:nvPr/>
        </p:nvSpPr>
        <p:spPr>
          <a:xfrm>
            <a:off x="-16329" y="-83681"/>
            <a:ext cx="626472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32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cs typeface="Arial" panose="020B0604020202020204" pitchFamily="34" charset="0"/>
              </a:rPr>
              <a:t>Mes de Abril</a:t>
            </a:r>
            <a:endParaRPr lang="es-MX" sz="32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ndara" panose="020E050203030302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921D3A33-F053-DC17-7E95-64ECF46C7F1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323" y="4751492"/>
            <a:ext cx="8370277" cy="1285613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136133BD-DACB-121D-5472-0B798025373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323" y="1370074"/>
            <a:ext cx="8370277" cy="26209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91820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DEB68E-40CC-1589-5D5B-4B7B0696FE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3 Rectángulo">
            <a:extLst>
              <a:ext uri="{FF2B5EF4-FFF2-40B4-BE49-F238E27FC236}">
                <a16:creationId xmlns:a16="http://schemas.microsoft.com/office/drawing/2014/main" id="{B491E80C-8CCA-4353-3F78-F8DAB0B9E61E}"/>
              </a:ext>
            </a:extLst>
          </p:cNvPr>
          <p:cNvSpPr/>
          <p:nvPr/>
        </p:nvSpPr>
        <p:spPr>
          <a:xfrm>
            <a:off x="304800" y="0"/>
            <a:ext cx="8839200" cy="6096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2400" b="1" dirty="0">
                <a:latin typeface="Candara" panose="020E0502030303020204" pitchFamily="34" charset="0"/>
                <a:cs typeface="Arial" pitchFamily="34" charset="0"/>
              </a:rPr>
              <a:t>VIDA UTIL </a:t>
            </a:r>
          </a:p>
        </p:txBody>
      </p:sp>
      <p:sp>
        <p:nvSpPr>
          <p:cNvPr id="6" name="5 Rectángulo">
            <a:extLst>
              <a:ext uri="{FF2B5EF4-FFF2-40B4-BE49-F238E27FC236}">
                <a16:creationId xmlns:a16="http://schemas.microsoft.com/office/drawing/2014/main" id="{967C301C-2B93-00EC-9E33-1356637C5305}"/>
              </a:ext>
            </a:extLst>
          </p:cNvPr>
          <p:cNvSpPr/>
          <p:nvPr/>
        </p:nvSpPr>
        <p:spPr>
          <a:xfrm>
            <a:off x="0" y="0"/>
            <a:ext cx="533400" cy="6858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2000" b="1" dirty="0" err="1">
                <a:latin typeface="Candara" panose="020E0502030303020204" pitchFamily="34" charset="0"/>
                <a:cs typeface="Arial" pitchFamily="34" charset="0"/>
              </a:rPr>
              <a:t>MGA</a:t>
            </a:r>
            <a:r>
              <a:rPr lang="en-US" sz="2000" b="1" dirty="0">
                <a:latin typeface="Candara" panose="020E0502030303020204" pitchFamily="34" charset="0"/>
                <a:cs typeface="Arial" pitchFamily="34" charset="0"/>
              </a:rPr>
              <a:t> CONTRATISTA MINERA, S.A. DE C.V.</a:t>
            </a:r>
            <a:endParaRPr lang="es-MX" sz="2000" b="1" dirty="0">
              <a:latin typeface="Candara" panose="020E0502030303020204" pitchFamily="34" charset="0"/>
              <a:cs typeface="Arial" pitchFamily="34" charset="0"/>
            </a:endParaRPr>
          </a:p>
        </p:txBody>
      </p:sp>
      <p:sp>
        <p:nvSpPr>
          <p:cNvPr id="5" name="4 Rectángulo">
            <a:extLst>
              <a:ext uri="{FF2B5EF4-FFF2-40B4-BE49-F238E27FC236}">
                <a16:creationId xmlns:a16="http://schemas.microsoft.com/office/drawing/2014/main" id="{08D22995-1143-90DF-409C-D377DEDB069E}"/>
              </a:ext>
            </a:extLst>
          </p:cNvPr>
          <p:cNvSpPr/>
          <p:nvPr/>
        </p:nvSpPr>
        <p:spPr>
          <a:xfrm rot="16200000">
            <a:off x="-2453640" y="3313610"/>
            <a:ext cx="5715000" cy="45719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C3E87F5A-5526-4141-AFAE-6AAB3F7633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1143000"/>
            <a:ext cx="3962400" cy="4805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53669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EADE10-01F3-97FD-70CC-00D6B0F7B2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3 Rectángulo">
            <a:extLst>
              <a:ext uri="{FF2B5EF4-FFF2-40B4-BE49-F238E27FC236}">
                <a16:creationId xmlns:a16="http://schemas.microsoft.com/office/drawing/2014/main" id="{97C7FA6D-D621-98A4-82FE-DAEA7E135D85}"/>
              </a:ext>
            </a:extLst>
          </p:cNvPr>
          <p:cNvSpPr/>
          <p:nvPr/>
        </p:nvSpPr>
        <p:spPr>
          <a:xfrm>
            <a:off x="304800" y="0"/>
            <a:ext cx="8839200" cy="6096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2400" b="1" dirty="0">
                <a:latin typeface="Candara" panose="020E0502030303020204" pitchFamily="34" charset="0"/>
                <a:cs typeface="Arial" pitchFamily="34" charset="0"/>
              </a:rPr>
              <a:t>CONSUMO DE DIESEL ACUMULADO</a:t>
            </a:r>
          </a:p>
        </p:txBody>
      </p:sp>
      <p:sp>
        <p:nvSpPr>
          <p:cNvPr id="6" name="5 Rectángulo">
            <a:extLst>
              <a:ext uri="{FF2B5EF4-FFF2-40B4-BE49-F238E27FC236}">
                <a16:creationId xmlns:a16="http://schemas.microsoft.com/office/drawing/2014/main" id="{0515E470-F1A4-BA32-A282-4DE9B45F34E6}"/>
              </a:ext>
            </a:extLst>
          </p:cNvPr>
          <p:cNvSpPr/>
          <p:nvPr/>
        </p:nvSpPr>
        <p:spPr>
          <a:xfrm>
            <a:off x="0" y="0"/>
            <a:ext cx="533400" cy="6858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2000" b="1" dirty="0" err="1">
                <a:latin typeface="Candara" panose="020E0502030303020204" pitchFamily="34" charset="0"/>
                <a:cs typeface="Arial" pitchFamily="34" charset="0"/>
              </a:rPr>
              <a:t>MGA</a:t>
            </a:r>
            <a:r>
              <a:rPr lang="en-US" sz="2000" b="1" dirty="0">
                <a:latin typeface="Candara" panose="020E0502030303020204" pitchFamily="34" charset="0"/>
                <a:cs typeface="Arial" pitchFamily="34" charset="0"/>
              </a:rPr>
              <a:t> CONTRATISTA MINERA, S.A. DE C.V.</a:t>
            </a:r>
            <a:endParaRPr lang="es-MX" sz="2000" b="1" dirty="0">
              <a:latin typeface="Candara" panose="020E0502030303020204" pitchFamily="34" charset="0"/>
              <a:cs typeface="Arial" pitchFamily="34" charset="0"/>
            </a:endParaRPr>
          </a:p>
        </p:txBody>
      </p:sp>
      <p:sp>
        <p:nvSpPr>
          <p:cNvPr id="5" name="4 Rectángulo">
            <a:extLst>
              <a:ext uri="{FF2B5EF4-FFF2-40B4-BE49-F238E27FC236}">
                <a16:creationId xmlns:a16="http://schemas.microsoft.com/office/drawing/2014/main" id="{0827AD82-C69B-5B49-E80F-9CF05ABDA2D7}"/>
              </a:ext>
            </a:extLst>
          </p:cNvPr>
          <p:cNvSpPr/>
          <p:nvPr/>
        </p:nvSpPr>
        <p:spPr>
          <a:xfrm rot="16200000">
            <a:off x="-2453640" y="3313610"/>
            <a:ext cx="5715000" cy="45719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A879127B-1933-BB9D-EF65-9BB20E9B1A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57575" y="714375"/>
            <a:ext cx="2762250" cy="6143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92062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/>
    </mc:Choice>
    <mc:Fallback xmlns="">
      <p:transition/>
    </mc:Fallback>
  </mc:AlternateContent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24079</TotalTime>
  <Words>78</Words>
  <Application>Microsoft Office PowerPoint</Application>
  <PresentationFormat>Presentación en pantalla (4:3)</PresentationFormat>
  <Paragraphs>15</Paragraphs>
  <Slides>6</Slides>
  <Notes>2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6</vt:i4>
      </vt:variant>
    </vt:vector>
  </HeadingPairs>
  <TitlesOfParts>
    <vt:vector size="10" baseType="lpstr">
      <vt:lpstr>Arial</vt:lpstr>
      <vt:lpstr>Calibri</vt:lpstr>
      <vt:lpstr>Candara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M. Yamahil Ek Pereda</dc:creator>
  <cp:lastModifiedBy>Dell</cp:lastModifiedBy>
  <cp:revision>562</cp:revision>
  <dcterms:created xsi:type="dcterms:W3CDTF">2020-07-20T15:50:10Z</dcterms:created>
  <dcterms:modified xsi:type="dcterms:W3CDTF">2026-05-04T16:58:25Z</dcterms:modified>
</cp:coreProperties>
</file>